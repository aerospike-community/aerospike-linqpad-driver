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45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8823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4D6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Aerospike LINQPad AI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21792" y="12984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7B3BD"/>
                </a:solidFill>
              </a:rPr>
              <a:t>Schema-aware AI query generation inside LINQPad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792" y="196596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8FA"/>
                </a:solidFill>
              </a:rPr>
              <a:t>Turn natural-language asks into runnable C# Statements queries across LINQPad-driver and native Aerospike API workflows.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" y="297180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54D66B"/>
          </a:solidFill>
          <a:ln w="12700">
            <a:solidFill>
              <a:srgbClr val="54D66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2376" y="3040380"/>
            <a:ext cx="1033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</a:rPr>
              <a:t>LINQPad Driver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93392" y="2971800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3AA6FF"/>
          </a:solidFill>
          <a:ln w="12700">
            <a:solidFill>
              <a:srgbClr val="3AA6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93976" y="3040380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</a:rPr>
              <a:t>AValue-aware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73552" y="297180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FFB36B"/>
          </a:solidFill>
          <a:ln w="12700">
            <a:solidFill>
              <a:srgbClr val="FFB36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74136" y="3040380"/>
            <a:ext cx="1033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</a:rPr>
              <a:t>Native C# API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45152" y="297180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C7A6FF"/>
          </a:solidFill>
          <a:ln w="12700">
            <a:solidFill>
              <a:srgbClr val="C7A6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45736" y="3040380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</a:rPr>
              <a:t>Server expressions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504432" y="1069848"/>
            <a:ext cx="5346192" cy="5038344"/>
          </a:xfrm>
          <a:prstGeom prst="roundRect">
            <a:avLst>
              <a:gd name="adj" fmla="val 2348"/>
            </a:avLst>
          </a:prstGeom>
          <a:solidFill>
            <a:srgbClr val="0B0F14"/>
          </a:solidFill>
          <a:ln w="15240">
            <a:solidFill>
              <a:srgbClr val="2E40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B3BD"/>
                </a:solidFill>
              </a:rPr>
              <a:t>Aerospike LINQPad AI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0241280" y="64739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7B3BD"/>
                </a:solidFill>
              </a:rPr>
              <a:t>Overview deck</a:t>
            </a:r>
            <a:endParaRPr lang="en-US" sz="85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B109BA28-A2ED-8345-6B59-852D5D59192B}"/>
              </a:ext>
            </a:extLst>
          </p:cNvPr>
          <p:cNvSpPr/>
          <p:nvPr/>
        </p:nvSpPr>
        <p:spPr>
          <a:xfrm>
            <a:off x="579119" y="3598164"/>
            <a:ext cx="518285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8FA"/>
                </a:solidFill>
              </a:rPr>
              <a:t>Turn this request into Aerospike C# LINQ Query…</a:t>
            </a:r>
            <a:endParaRPr lang="en-US" sz="22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FAF4F320-96F2-56CA-4440-B4D6F415EAC9}"/>
              </a:ext>
            </a:extLst>
          </p:cNvPr>
          <p:cNvSpPr/>
          <p:nvPr/>
        </p:nvSpPr>
        <p:spPr>
          <a:xfrm>
            <a:off x="538744" y="4252900"/>
            <a:ext cx="5346192" cy="931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buNone/>
            </a:pPr>
            <a:r>
              <a:rPr lang="en-US" sz="1600" dirty="0">
                <a:solidFill>
                  <a:srgbClr val="D79B87"/>
                </a:solidFill>
                <a:effectLst/>
                <a:latin typeface="Courier New" panose="02070309020205020404" pitchFamily="49" charset="0"/>
              </a:rPr>
              <a:t>I would like a list of customers purchases.</a:t>
            </a:r>
          </a:p>
          <a:p>
            <a:pPr>
              <a:buNone/>
            </a:pPr>
            <a:r>
              <a:rPr lang="en-US" sz="1600" dirty="0">
                <a:solidFill>
                  <a:srgbClr val="D79B87"/>
                </a:solidFill>
                <a:effectLst/>
                <a:latin typeface="Courier New" panose="02070309020205020404" pitchFamily="49" charset="0"/>
              </a:rPr>
              <a:t>Please order by Artist Name, Album Title, Track Name with sub-totals.</a:t>
            </a:r>
            <a:endParaRPr lang="en-US" sz="1600" dirty="0">
              <a:latin typeface="Courier New" panose="02070309020205020404" pitchFamily="49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87B86F0-2B77-8C51-C265-D1F552665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048" y="2004338"/>
            <a:ext cx="4742020" cy="2593292"/>
          </a:xfrm>
          <a:prstGeom prst="rect">
            <a:avLst/>
          </a:prstGeom>
        </p:spPr>
      </p:pic>
      <p:sp>
        <p:nvSpPr>
          <p:cNvPr id="29" name="Text 5">
            <a:extLst>
              <a:ext uri="{FF2B5EF4-FFF2-40B4-BE49-F238E27FC236}">
                <a16:creationId xmlns:a16="http://schemas.microsoft.com/office/drawing/2014/main" id="{FD46B2B7-AF1B-E657-542E-984D46BF8D4E}"/>
              </a:ext>
            </a:extLst>
          </p:cNvPr>
          <p:cNvSpPr/>
          <p:nvPr/>
        </p:nvSpPr>
        <p:spPr>
          <a:xfrm>
            <a:off x="522105" y="5239157"/>
            <a:ext cx="518285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8FA"/>
                </a:solidFill>
              </a:rPr>
              <a:t>In one line, turn the above request into Aerospike C# Native API Code by adding:</a:t>
            </a:r>
            <a:endParaRPr lang="en-US" sz="2200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60575755-FC97-6E40-D1AD-F13A23D25430}"/>
              </a:ext>
            </a:extLst>
          </p:cNvPr>
          <p:cNvSpPr/>
          <p:nvPr/>
        </p:nvSpPr>
        <p:spPr>
          <a:xfrm>
            <a:off x="538744" y="5917128"/>
            <a:ext cx="5346192" cy="55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>
              <a:buNone/>
            </a:pPr>
            <a:r>
              <a:rPr lang="en-US" sz="1600" dirty="0">
                <a:solidFill>
                  <a:srgbClr val="D79B87"/>
                </a:solidFill>
                <a:latin typeface="Courier New" panose="02070309020205020404" pitchFamily="49" charset="0"/>
              </a:rPr>
              <a:t>Use Aerospike Native API</a:t>
            </a:r>
            <a:r>
              <a:rPr lang="en-US" sz="1600" dirty="0">
                <a:solidFill>
                  <a:srgbClr val="D79B87"/>
                </a:solidFill>
                <a:effectLst/>
                <a:latin typeface="Courier New" panose="02070309020205020404" pitchFamily="49" charset="0"/>
              </a:rPr>
              <a:t>.</a:t>
            </a:r>
            <a:endParaRPr lang="en-US" sz="16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4D6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AI feature does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3BD"/>
                </a:solidFill>
              </a:rPr>
              <a:t>Natural language becomes safe, bounded LINQPad C# over live Aerospike metadata.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207008"/>
            <a:ext cx="5678424" cy="4306824"/>
          </a:xfrm>
          <a:prstGeom prst="roundRect">
            <a:avLst>
              <a:gd name="adj" fmla="val 2548"/>
            </a:avLst>
          </a:prstGeom>
          <a:solidFill>
            <a:srgbClr val="0B0F14"/>
          </a:solidFill>
          <a:ln w="15240">
            <a:solidFill>
              <a:srgbClr val="2E40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83680" y="12344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8FA"/>
                </a:solidFill>
              </a:rPr>
              <a:t>From intent to executable query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629400" y="1929384"/>
            <a:ext cx="109728" cy="109728"/>
          </a:xfrm>
          <a:prstGeom prst="ellipse">
            <a:avLst/>
          </a:prstGeom>
          <a:solidFill>
            <a:srgbClr val="54D6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5800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5F8FA"/>
                </a:solidFill>
              </a:rPr>
              <a:t>Reads current namespace, set, bin, and generated-property context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629400" y="2603525"/>
            <a:ext cx="109728" cy="109728"/>
          </a:xfrm>
          <a:prstGeom prst="ellipse">
            <a:avLst/>
          </a:prstGeom>
          <a:solidFill>
            <a:srgbClr val="FFB3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0" y="2468880"/>
            <a:ext cx="45720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5F8FA"/>
                </a:solidFill>
              </a:rPr>
              <a:t>Chooses LINQPad-driver or native Aerospike API mode</a:t>
            </a:r>
            <a:br>
              <a:rPr lang="en-US" sz="1320" dirty="0">
                <a:solidFill>
                  <a:srgbClr val="F5F8FA"/>
                </a:solidFill>
              </a:rPr>
            </a:br>
            <a:r>
              <a:rPr lang="en-US" sz="1320" dirty="0">
                <a:solidFill>
                  <a:srgbClr val="F5F8FA"/>
                </a:solidFill>
              </a:rPr>
              <a:t>In Native API mode; copy/paste ready for Visual Studio/Code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629400" y="3118104"/>
            <a:ext cx="109728" cy="109728"/>
          </a:xfrm>
          <a:prstGeom prst="ellipse">
            <a:avLst/>
          </a:prstGeom>
          <a:solidFill>
            <a:srgbClr val="3AA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5800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5F8FA"/>
                </a:solidFill>
              </a:rPr>
              <a:t>Generates runnable C# Statements with summary comments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629400" y="3749286"/>
            <a:ext cx="109728" cy="109728"/>
          </a:xfrm>
          <a:prstGeom prst="ellipse">
            <a:avLst/>
          </a:prstGeom>
          <a:solidFill>
            <a:srgbClr val="C7A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58000" y="3657600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5F8FA"/>
                </a:solidFill>
              </a:rPr>
              <a:t>Complete CDT and Expression/CTX  support with transversal</a:t>
            </a:r>
            <a:endParaRPr lang="en-US" sz="1320" b="1" dirty="0"/>
          </a:p>
        </p:txBody>
      </p:sp>
      <p:sp>
        <p:nvSpPr>
          <p:cNvPr id="19" name="Shape 16"/>
          <p:cNvSpPr/>
          <p:nvPr/>
        </p:nvSpPr>
        <p:spPr>
          <a:xfrm>
            <a:off x="6583680" y="5166360"/>
            <a:ext cx="4572000" cy="685800"/>
          </a:xfrm>
          <a:prstGeom prst="roundRect">
            <a:avLst>
              <a:gd name="adj" fmla="val 16000"/>
            </a:avLst>
          </a:prstGeom>
          <a:solidFill>
            <a:srgbClr val="54D66B">
              <a:alpha val="90000"/>
            </a:srgbClr>
          </a:solidFill>
          <a:ln w="12700">
            <a:solidFill>
              <a:srgbClr val="54D66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748272" y="5294376"/>
            <a:ext cx="4242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</a:rPr>
              <a:t>The prompt can ask for query syntax, native API code, server-side expressions, or result shaping.</a:t>
            </a:r>
            <a:endParaRPr lang="en-US" sz="1220" dirty="0"/>
          </a:p>
        </p:txBody>
      </p:sp>
      <p:sp>
        <p:nvSpPr>
          <p:cNvPr id="21" name="Text 18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B3BD"/>
                </a:solidFill>
              </a:rPr>
              <a:t>Aerospike LINQPad AI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241280" y="64739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7B3BD"/>
                </a:solidFill>
              </a:rPr>
              <a:t>Overview deck</a:t>
            </a:r>
            <a:endParaRPr lang="en-US" sz="850" dirty="0"/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0722BFD9-2D6E-B698-D9A2-59A4EAD04FB7}"/>
              </a:ext>
            </a:extLst>
          </p:cNvPr>
          <p:cNvSpPr/>
          <p:nvPr/>
        </p:nvSpPr>
        <p:spPr>
          <a:xfrm>
            <a:off x="6626639" y="4259785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8C37157F-C549-2EE0-8CFF-AEBF346C096A}"/>
              </a:ext>
            </a:extLst>
          </p:cNvPr>
          <p:cNvSpPr/>
          <p:nvPr/>
        </p:nvSpPr>
        <p:spPr>
          <a:xfrm>
            <a:off x="6812280" y="417423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5F8FA"/>
                </a:solidFill>
              </a:rPr>
              <a:t>Opens the generated query with the right LINQPad execution path</a:t>
            </a:r>
            <a:endParaRPr lang="en-US" sz="132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6C8D5BA5-9B19-A4D1-F756-8FC6F0AF9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30" y="1874520"/>
            <a:ext cx="4742020" cy="25932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4D6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workflow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3BD"/>
                </a:solidFill>
              </a:rPr>
              <a:t>Prompt → AI context → generated script → LINQPad execution → nested result output.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1572768" cy="1234440"/>
          </a:xfrm>
          <a:prstGeom prst="roundRect">
            <a:avLst>
              <a:gd name="adj" fmla="val 8889"/>
            </a:avLst>
          </a:prstGeom>
          <a:solidFill>
            <a:srgbClr val="17202A"/>
          </a:solidFill>
          <a:ln w="15240">
            <a:solidFill>
              <a:srgbClr val="355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6276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4D66B"/>
                </a:solidFill>
              </a:rPr>
              <a:t>Ask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199339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F5F8FA"/>
                </a:solidFill>
              </a:rPr>
              <a:t>Natural-language request in LINQPad</a:t>
            </a:r>
            <a:endParaRPr lang="en-US" sz="890" dirty="0"/>
          </a:p>
        </p:txBody>
      </p:sp>
      <p:sp>
        <p:nvSpPr>
          <p:cNvPr id="9" name="Shape 7"/>
          <p:cNvSpPr/>
          <p:nvPr/>
        </p:nvSpPr>
        <p:spPr>
          <a:xfrm>
            <a:off x="2395728" y="1801368"/>
            <a:ext cx="320040" cy="320040"/>
          </a:xfrm>
          <a:prstGeom prst="chevron">
            <a:avLst/>
          </a:prstGeom>
          <a:solidFill>
            <a:srgbClr val="4B5B6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88920" y="1417320"/>
            <a:ext cx="1572768" cy="1234440"/>
          </a:xfrm>
          <a:prstGeom prst="roundRect">
            <a:avLst>
              <a:gd name="adj" fmla="val 8889"/>
            </a:avLst>
          </a:prstGeom>
          <a:solidFill>
            <a:srgbClr val="1F2A36"/>
          </a:solidFill>
          <a:ln w="15240">
            <a:solidFill>
              <a:srgbClr val="355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26080" y="16276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AA6FF"/>
                </a:solidFill>
              </a:rPr>
              <a:t>Context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26080" y="199339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F5F8FA"/>
                </a:solidFill>
              </a:rPr>
              <a:t>Current schema + rules + examples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4453128" y="1801368"/>
            <a:ext cx="320040" cy="320040"/>
          </a:xfrm>
          <a:prstGeom prst="chevron">
            <a:avLst/>
          </a:prstGeom>
          <a:solidFill>
            <a:srgbClr val="4B5B6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1417320"/>
            <a:ext cx="1572768" cy="1234440"/>
          </a:xfrm>
          <a:prstGeom prst="roundRect">
            <a:avLst>
              <a:gd name="adj" fmla="val 8889"/>
            </a:avLst>
          </a:prstGeom>
          <a:solidFill>
            <a:srgbClr val="17202A"/>
          </a:solidFill>
          <a:ln w="15240">
            <a:solidFill>
              <a:srgbClr val="355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16276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B36B"/>
                </a:solidFill>
              </a:rPr>
              <a:t>Generate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983480" y="199339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F5F8FA"/>
                </a:solidFill>
              </a:rPr>
              <a:t>C# Statements script with summary</a:t>
            </a:r>
            <a:endParaRPr lang="en-US" sz="890" dirty="0"/>
          </a:p>
        </p:txBody>
      </p:sp>
      <p:sp>
        <p:nvSpPr>
          <p:cNvPr id="17" name="Shape 15"/>
          <p:cNvSpPr/>
          <p:nvPr/>
        </p:nvSpPr>
        <p:spPr>
          <a:xfrm>
            <a:off x="6510528" y="1801368"/>
            <a:ext cx="320040" cy="320040"/>
          </a:xfrm>
          <a:prstGeom prst="chevron">
            <a:avLst/>
          </a:prstGeom>
          <a:solidFill>
            <a:srgbClr val="4B5B6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03720" y="1417320"/>
            <a:ext cx="1572768" cy="1234440"/>
          </a:xfrm>
          <a:prstGeom prst="roundRect">
            <a:avLst>
              <a:gd name="adj" fmla="val 8889"/>
            </a:avLst>
          </a:prstGeom>
          <a:solidFill>
            <a:srgbClr val="1F2A36"/>
          </a:solidFill>
          <a:ln w="15240">
            <a:solidFill>
              <a:srgbClr val="355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40880" y="16276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7A6FF"/>
                </a:solidFill>
              </a:rPr>
              <a:t>Run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040880" y="199339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F5F8FA"/>
                </a:solidFill>
              </a:rPr>
              <a:t>LINQPad executes with Dump() output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8567928" y="1801368"/>
            <a:ext cx="320040" cy="320040"/>
          </a:xfrm>
          <a:prstGeom prst="chevron">
            <a:avLst/>
          </a:prstGeom>
          <a:solidFill>
            <a:srgbClr val="4B5B6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961120" y="1417320"/>
            <a:ext cx="1572768" cy="1234440"/>
          </a:xfrm>
          <a:prstGeom prst="roundRect">
            <a:avLst>
              <a:gd name="adj" fmla="val 8889"/>
            </a:avLst>
          </a:prstGeom>
          <a:solidFill>
            <a:srgbClr val="17202A"/>
          </a:solidFill>
          <a:ln w="15240">
            <a:solidFill>
              <a:srgbClr val="355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98280" y="16276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D166"/>
                </a:solidFill>
              </a:rPr>
              <a:t>Inspect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098280" y="199339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F5F8FA"/>
                </a:solidFill>
              </a:rPr>
              <a:t>Nested records, joins, and results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749808" y="3218688"/>
            <a:ext cx="10707624" cy="2660904"/>
          </a:xfrm>
          <a:prstGeom prst="roundRect">
            <a:avLst>
              <a:gd name="adj" fmla="val 4124"/>
            </a:avLst>
          </a:prstGeom>
          <a:solidFill>
            <a:srgbClr val="0B0F14"/>
          </a:solidFill>
          <a:ln w="15240">
            <a:solidFill>
              <a:srgbClr val="2E40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/mnt/data/QryExp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0955" y="3246120"/>
            <a:ext cx="4765330" cy="260604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914400" y="5989320"/>
            <a:ext cx="6035040" cy="438912"/>
          </a:xfrm>
          <a:prstGeom prst="roundRect">
            <a:avLst>
              <a:gd name="adj" fmla="val 25000"/>
            </a:avLst>
          </a:prstGeom>
          <a:solidFill>
            <a:srgbClr val="3AA6FF">
              <a:alpha val="90000"/>
            </a:srgbClr>
          </a:solidFill>
          <a:ln w="12700">
            <a:solidFill>
              <a:srgbClr val="3AA6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078992" y="6117336"/>
            <a:ext cx="5705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</a:rPr>
              <a:t>Result shape can include nested invoices, tracks, albums, and artists — without leaving LINQPad.</a:t>
            </a:r>
            <a:endParaRPr lang="en-US" sz="1220" dirty="0"/>
          </a:p>
        </p:txBody>
      </p:sp>
      <p:sp>
        <p:nvSpPr>
          <p:cNvPr id="29" name="Text 26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B3BD"/>
                </a:solidFill>
              </a:rPr>
              <a:t>Aerospike LINQPad AI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0241280" y="64739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7B3BD"/>
                </a:solidFill>
              </a:rPr>
              <a:t>Overview deck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4D6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samples lower the starting friction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3BD"/>
                </a:solidFill>
              </a:rPr>
              <a:t>Packaged samples make common AI workflows discoverable inside LINQPad.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04088" y="1252728"/>
            <a:ext cx="3483864" cy="4901184"/>
          </a:xfrm>
          <a:prstGeom prst="roundRect">
            <a:avLst>
              <a:gd name="adj" fmla="val 3150"/>
            </a:avLst>
          </a:prstGeom>
          <a:solidFill>
            <a:srgbClr val="0B0F14"/>
          </a:solidFill>
          <a:ln w="15240">
            <a:solidFill>
              <a:srgbClr val="2E40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AIS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75831"/>
            <a:ext cx="3429000" cy="34549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8FA"/>
                </a:solidFill>
              </a:rPr>
              <a:t>Sample coverage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709160" y="16916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4D66B"/>
                </a:solidFill>
              </a:rPr>
              <a:t>Ask about connection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903720" y="16916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A"/>
                </a:solidFill>
              </a:rPr>
              <a:t>Explain current cluster and driver context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09160" y="235000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A6FF"/>
                </a:solidFill>
              </a:rPr>
              <a:t>Ask about a set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903720" y="235000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A"/>
                </a:solidFill>
              </a:rPr>
              <a:t>Use actual metadata for set-specific queries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09160" y="300837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B36B"/>
                </a:solidFill>
              </a:rPr>
              <a:t>Generate joins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903720" y="300837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A"/>
                </a:solidFill>
              </a:rPr>
              <a:t>Create query syntax or method syntax joins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09160" y="366674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7A6FF"/>
                </a:solidFill>
              </a:rPr>
              <a:t>AValue examples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903720" y="366674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A"/>
                </a:solidFill>
              </a:rPr>
              <a:t>Show safe conversion and CDT traversal patterns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09160" y="432511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166"/>
                </a:solidFill>
              </a:rPr>
              <a:t>Filter expressions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903720" y="432511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A"/>
                </a:solidFill>
              </a:rPr>
              <a:t>Generate server-side expression filters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09160" y="49834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4D66B"/>
                </a:solidFill>
              </a:rPr>
              <a:t>AI context dump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903720" y="49834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A"/>
                </a:solidFill>
              </a:rPr>
              <a:t>Inspect what the model receives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09160" y="5715000"/>
            <a:ext cx="4983480" cy="502920"/>
          </a:xfrm>
          <a:prstGeom prst="roundRect">
            <a:avLst>
              <a:gd name="adj" fmla="val 21818"/>
            </a:avLst>
          </a:prstGeom>
          <a:solidFill>
            <a:srgbClr val="FFB36B">
              <a:alpha val="90000"/>
            </a:srgbClr>
          </a:solidFill>
          <a:ln w="12700">
            <a:solidFill>
              <a:srgbClr val="FFB36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73752" y="5843016"/>
            <a:ext cx="4654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</a:rPr>
              <a:t>The samples are also documentation: they teach the AI where the boundaries are.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B3BD"/>
                </a:solidFill>
              </a:rPr>
              <a:t>Aerospike LINQPad AI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0241280" y="64739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7B3BD"/>
                </a:solidFill>
              </a:rPr>
              <a:t>Overview deck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4D6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Schema-aware context in the editor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3BD"/>
                </a:solidFill>
              </a:rPr>
              <a:t>The AI sees the same domain shape you see in LINQPad: sets, bins, generated properties, and cluster metadata.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252728"/>
            <a:ext cx="5449824" cy="4992624"/>
          </a:xfrm>
          <a:prstGeom prst="roundRect">
            <a:avLst>
              <a:gd name="adj" fmla="val 2198"/>
            </a:avLst>
          </a:prstGeom>
          <a:solidFill>
            <a:srgbClr val="0B0F14"/>
          </a:solidFill>
          <a:ln w="15240">
            <a:solidFill>
              <a:srgbClr val="2E40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0" y="11704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8FA"/>
                </a:solidFill>
              </a:rPr>
              <a:t>Context ingredients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446520" y="1837944"/>
            <a:ext cx="109728" cy="109728"/>
          </a:xfrm>
          <a:prstGeom prst="ellipse">
            <a:avLst/>
          </a:prstGeom>
          <a:solidFill>
            <a:srgbClr val="54D6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67512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5F8FA"/>
                </a:solidFill>
              </a:rPr>
              <a:t>Namespace, set, and bin metadata from the active connection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446520" y="2450592"/>
            <a:ext cx="109728" cy="109728"/>
          </a:xfrm>
          <a:prstGeom prst="ellipse">
            <a:avLst/>
          </a:prstGeom>
          <a:solidFill>
            <a:srgbClr val="3AA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675120" y="2395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5F8FA"/>
                </a:solidFill>
              </a:rPr>
              <a:t>Generated property names and primary-key conventions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446520" y="3063240"/>
            <a:ext cx="109728" cy="109728"/>
          </a:xfrm>
          <a:prstGeom prst="ellipse">
            <a:avLst/>
          </a:prstGeom>
          <a:solidFill>
            <a:srgbClr val="C7A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675120" y="30083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5F8FA"/>
                </a:solidFill>
              </a:rPr>
              <a:t>Driver rules for AValue / APrimaryKey behavior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446520" y="3675888"/>
            <a:ext cx="109728" cy="109728"/>
          </a:xfrm>
          <a:prstGeom prst="ellipse">
            <a:avLst/>
          </a:prstGeom>
          <a:solidFill>
            <a:srgbClr val="FFB3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675120" y="36210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5F8FA"/>
                </a:solidFill>
              </a:rPr>
              <a:t>Mode-specific examples: LINQPad driver vs native C# client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6446520" y="4288536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675120" y="4233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5F8FA"/>
                </a:solidFill>
              </a:rPr>
              <a:t>Versioned AI context so generated scripts show provenance</a:t>
            </a:r>
            <a:endParaRPr lang="en-US" sz="1320" dirty="0"/>
          </a:p>
        </p:txBody>
      </p:sp>
      <p:sp>
        <p:nvSpPr>
          <p:cNvPr id="19" name="Shape 16"/>
          <p:cNvSpPr/>
          <p:nvPr/>
        </p:nvSpPr>
        <p:spPr>
          <a:xfrm>
            <a:off x="6446520" y="525780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54D66B">
              <a:alpha val="90000"/>
            </a:srgbClr>
          </a:solidFill>
          <a:ln w="12700">
            <a:solidFill>
              <a:srgbClr val="54D66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611112" y="5385816"/>
            <a:ext cx="4197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</a:rPr>
              <a:t>Result: generated code follows the current connection instead of generic sample assumptions.</a:t>
            </a:r>
            <a:endParaRPr lang="en-US" sz="1220" dirty="0"/>
          </a:p>
        </p:txBody>
      </p:sp>
      <p:sp>
        <p:nvSpPr>
          <p:cNvPr id="21" name="Text 18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B3BD"/>
                </a:solidFill>
              </a:rPr>
              <a:t>Aerospike LINQPad AI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241280" y="64739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7B3BD"/>
                </a:solidFill>
              </a:rPr>
              <a:t>Overview deck</a:t>
            </a:r>
            <a:endParaRPr lang="en-US" sz="8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6CE42D9-51C1-EFA2-A7BD-0DB7ABB84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08" y="2115077"/>
            <a:ext cx="4805203" cy="26278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4D6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execution modes — one workflow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3BD"/>
                </a:solidFill>
              </a:rPr>
              <a:t>The user can ask for LINQPad-driver code or native Aerospike C# client API code.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5349240" cy="5120640"/>
          </a:xfrm>
          <a:prstGeom prst="roundRect">
            <a:avLst>
              <a:gd name="adj" fmla="val 2143"/>
            </a:avLst>
          </a:prstGeom>
          <a:solidFill>
            <a:srgbClr val="111B24"/>
          </a:solidFill>
          <a:ln w="15240">
            <a:solidFill>
              <a:srgbClr val="285D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389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A6FF"/>
                </a:solidFill>
              </a:rPr>
              <a:t>LINQPad-driver mode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7556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3BD"/>
                </a:solidFill>
              </a:rPr>
              <a:t>Generated sets, properties, AValue helpers, and driver expressions.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41248" y="2121408"/>
            <a:ext cx="4626864" cy="3666744"/>
          </a:xfrm>
          <a:prstGeom prst="roundRect">
            <a:avLst>
              <a:gd name="adj" fmla="val 2993"/>
            </a:avLst>
          </a:prstGeom>
          <a:solidFill>
            <a:srgbClr val="0B0F14"/>
          </a:solidFill>
          <a:ln w="15240">
            <a:solidFill>
              <a:srgbClr val="2E40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/mnt/data/QryExp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04624"/>
            <a:ext cx="4572000" cy="250031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63640" y="1143000"/>
            <a:ext cx="5349240" cy="5120640"/>
          </a:xfrm>
          <a:prstGeom prst="roundRect">
            <a:avLst>
              <a:gd name="adj" fmla="val 2143"/>
            </a:avLst>
          </a:prstGeom>
          <a:solidFill>
            <a:srgbClr val="111B24"/>
          </a:solidFill>
          <a:ln w="15240">
            <a:solidFill>
              <a:srgbClr val="8A62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37960" y="1389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36B"/>
                </a:solidFill>
              </a:rPr>
              <a:t>Native API mode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537960" y="1696672"/>
            <a:ext cx="4785360" cy="310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3BD"/>
                </a:solidFill>
              </a:rPr>
              <a:t>Explicit AerospikeClient, policies, raw bin names, and native RecordSet/</a:t>
            </a:r>
            <a:r>
              <a:rPr lang="en-US" sz="1150" dirty="0" err="1">
                <a:solidFill>
                  <a:srgbClr val="A7B3BD"/>
                </a:solidFill>
              </a:rPr>
              <a:t>ScanAll</a:t>
            </a:r>
            <a:r>
              <a:rPr lang="en-US" sz="1150" dirty="0">
                <a:solidFill>
                  <a:srgbClr val="A7B3BD"/>
                </a:solidFill>
              </a:rPr>
              <a:t>/Get/Put. </a:t>
            </a:r>
            <a:r>
              <a:rPr lang="en-US" sz="1150" dirty="0" err="1">
                <a:solidFill>
                  <a:srgbClr val="A7B3BD"/>
                </a:solidFill>
              </a:rPr>
              <a:t>Completly</a:t>
            </a:r>
            <a:r>
              <a:rPr lang="en-US" sz="1150" dirty="0">
                <a:solidFill>
                  <a:srgbClr val="A7B3BD"/>
                </a:solidFill>
              </a:rPr>
              <a:t> based on the Aerospike Native API.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510528" y="2121408"/>
            <a:ext cx="4626864" cy="3666744"/>
          </a:xfrm>
          <a:prstGeom prst="roundRect">
            <a:avLst>
              <a:gd name="adj" fmla="val 2993"/>
            </a:avLst>
          </a:prstGeom>
          <a:solidFill>
            <a:srgbClr val="0B0F14"/>
          </a:solidFill>
          <a:ln w="15240">
            <a:solidFill>
              <a:srgbClr val="2E40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/mnt/data/NatCustTrackPolicy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652162"/>
            <a:ext cx="4572000" cy="26052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B3BD"/>
                </a:solidFill>
              </a:rPr>
              <a:t>Aerospike LINQPad AI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10241280" y="64739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7B3BD"/>
                </a:solidFill>
              </a:rPr>
              <a:t>Overview deck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4D6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Server-side expressions and nested CDT traversal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3BD"/>
                </a:solidFill>
              </a:rPr>
              <a:t>Expression mode can push filtering to Aerospike while shaping the final result in LINQPad.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2648" y="1252728"/>
            <a:ext cx="6684264" cy="5129784"/>
          </a:xfrm>
          <a:prstGeom prst="roundRect">
            <a:avLst>
              <a:gd name="adj" fmla="val 2139"/>
            </a:avLst>
          </a:prstGeom>
          <a:solidFill>
            <a:srgbClr val="0B0F14"/>
          </a:solidFill>
          <a:ln w="15240">
            <a:solidFill>
              <a:srgbClr val="2E40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QryExp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04893"/>
            <a:ext cx="6629400" cy="362545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5F8FA"/>
                </a:solidFill>
              </a:rPr>
              <a:t>Example pattern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7635240" y="1783080"/>
            <a:ext cx="3246120" cy="502920"/>
          </a:xfrm>
          <a:prstGeom prst="roundRect">
            <a:avLst>
              <a:gd name="adj" fmla="val 21818"/>
            </a:avLst>
          </a:prstGeom>
          <a:solidFill>
            <a:srgbClr val="C7A6FF">
              <a:alpha val="90000"/>
            </a:srgbClr>
          </a:solidFill>
          <a:ln w="12700">
            <a:solidFill>
              <a:srgbClr val="C7A6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99832" y="1911096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</a:rPr>
              <a:t>CDTExp.SelectByPath(...)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7635240" y="2514600"/>
            <a:ext cx="3246120" cy="502920"/>
          </a:xfrm>
          <a:prstGeom prst="roundRect">
            <a:avLst>
              <a:gd name="adj" fmla="val 21818"/>
            </a:avLst>
          </a:prstGeom>
          <a:solidFill>
            <a:srgbClr val="3AA6FF">
              <a:alpha val="90000"/>
            </a:srgbClr>
          </a:solidFill>
          <a:ln w="12700">
            <a:solidFill>
              <a:srgbClr val="3AA6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99832" y="2642616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</a:rPr>
              <a:t>Exp.Or(...) + ListExp.GetByValue(...)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7635240" y="3246120"/>
            <a:ext cx="3246120" cy="502920"/>
          </a:xfrm>
          <a:prstGeom prst="roundRect">
            <a:avLst>
              <a:gd name="adj" fmla="val 21818"/>
            </a:avLst>
          </a:prstGeom>
          <a:solidFill>
            <a:srgbClr val="54D66B">
              <a:alpha val="90000"/>
            </a:srgbClr>
          </a:solidFill>
          <a:ln w="12700">
            <a:solidFill>
              <a:srgbClr val="54D66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99832" y="3374136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</a:rPr>
              <a:t>Query(filterExpression)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7635240" y="3977640"/>
            <a:ext cx="3246120" cy="685800"/>
          </a:xfrm>
          <a:prstGeom prst="roundRect">
            <a:avLst>
              <a:gd name="adj" fmla="val 16000"/>
            </a:avLst>
          </a:prstGeom>
          <a:solidFill>
            <a:srgbClr val="FFB36B">
              <a:alpha val="90000"/>
            </a:srgbClr>
          </a:solidFill>
          <a:ln w="12700">
            <a:solidFill>
              <a:srgbClr val="FFB36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99832" y="4105656"/>
            <a:ext cx="2916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</a:rPr>
              <a:t>Client-side enrichment: Track → Album → Artist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763524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8FA"/>
                </a:solidFill>
              </a:rPr>
              <a:t>Why it matters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7635240" y="5349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A7B3BD"/>
                </a:solidFill>
              </a:rPr>
              <a:t>Filter large document sets on the server, then return clean customer-shaped results.</a:t>
            </a:r>
            <a:endParaRPr lang="en-US" sz="122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B3BD"/>
                </a:solidFill>
              </a:rPr>
              <a:t>Aerospike LINQPad AI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241280" y="64739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7B3BD"/>
                </a:solidFill>
              </a:rPr>
              <a:t>Overview deck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4D6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AValue-aware query generation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3BD"/>
                </a:solidFill>
              </a:rPr>
              <a:t>Generated code respects Aerospike schemaless data, mixed types, and nested document values.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4937760" cy="1600200"/>
          </a:xfrm>
          <a:prstGeom prst="roundRect">
            <a:avLst>
              <a:gd name="adj" fmla="val 6857"/>
            </a:avLst>
          </a:prstGeom>
          <a:solidFill>
            <a:srgbClr val="1F2A36"/>
          </a:solidFill>
          <a:ln w="15240">
            <a:solidFill>
              <a:srgbClr val="354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6184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4D66B"/>
                </a:solidFill>
              </a:rPr>
              <a:t>Null-safe CDT traversal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0391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5F8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customer.Invoices.ToAValue()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5F8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!invoices.IsEmpty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4937760" cy="1600200"/>
          </a:xfrm>
          <a:prstGeom prst="roundRect">
            <a:avLst>
              <a:gd name="adj" fmla="val 6857"/>
            </a:avLst>
          </a:prstGeom>
          <a:solidFill>
            <a:srgbClr val="1F2A36"/>
          </a:solidFill>
          <a:ln w="15240">
            <a:solidFill>
              <a:srgbClr val="354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6184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A6FF"/>
                </a:solidFill>
              </a:rPr>
              <a:t>Type-safe conversion or auto-casting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0391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5F8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trackId.CanConvert&lt;long&gt;()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5F8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trackId.Convert&lt;long&gt;()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777240" y="3794760"/>
            <a:ext cx="4937760" cy="1600200"/>
          </a:xfrm>
          <a:prstGeom prst="roundRect">
            <a:avLst>
              <a:gd name="adj" fmla="val 6857"/>
            </a:avLst>
          </a:prstGeom>
          <a:solidFill>
            <a:srgbClr val="1F2A36"/>
          </a:solidFill>
          <a:ln w="15240">
            <a:solidFill>
              <a:srgbClr val="354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9959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A6FF"/>
                </a:solidFill>
              </a:rPr>
              <a:t>AValue lookup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441655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5F8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line.TryGetValue("TrackId", AValue.Empty)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263640" y="3794760"/>
            <a:ext cx="4937760" cy="1600200"/>
          </a:xfrm>
          <a:prstGeom prst="roundRect">
            <a:avLst>
              <a:gd name="adj" fmla="val 6857"/>
            </a:avLst>
          </a:prstGeom>
          <a:solidFill>
            <a:srgbClr val="1F2A36"/>
          </a:solidFill>
          <a:ln w="15240">
            <a:solidFill>
              <a:srgbClr val="354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92240" y="39959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36B"/>
                </a:solidFill>
              </a:rPr>
              <a:t>Output shaping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441655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5F8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fields + MatchingTracks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914400" y="5541264"/>
            <a:ext cx="10241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F8FA"/>
                </a:solidFill>
              </a:rPr>
              <a:t>AValues let the AI generate exploratory LINQPad code without assuming every record has every bin or the same type.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B3BD"/>
                </a:solidFill>
              </a:rPr>
              <a:t>Aerospike LINQPad AI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241280" y="64739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7B3BD"/>
                </a:solidFill>
              </a:rPr>
              <a:t>Overview deck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164592"/>
            <a:ext cx="12191695" cy="6858000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384048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Server-side expressions for nested CDT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320040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250" b="0">
                <a:solidFill>
                  <a:srgbClr val="BECDDA"/>
                </a:solidFill>
                <a:latin typeface="Aptos"/>
              </a:rPr>
              <a:t>Query syntax request: customers whose Invoices[*].Lines[*].TrackId matches 2955, 1447, 179, or 3169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85743"/>
            <a:ext cx="3822191" cy="4096512"/>
          </a:xfrm>
          <a:prstGeom prst="roundRect">
            <a:avLst/>
          </a:prstGeom>
          <a:solidFill>
            <a:srgbClr val="1C2228"/>
          </a:solidFill>
          <a:ln w="15875">
            <a:solidFill>
              <a:srgbClr val="4A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216152"/>
            <a:ext cx="3337560" cy="256032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400" b="1" dirty="0">
                <a:solidFill>
                  <a:srgbClr val="7ACCFF"/>
                </a:solidFill>
                <a:latin typeface="Aptos"/>
              </a:rPr>
              <a:t>Request shape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" y="1481328"/>
            <a:ext cx="3756285" cy="1567096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spcAft>
                <a:spcPts val="500"/>
              </a:spcAft>
              <a:defRPr sz="1270">
                <a:solidFill>
                  <a:srgbClr val="EBEBEB"/>
                </a:solidFill>
                <a:latin typeface="Aptos"/>
              </a:defRPr>
            </a:pPr>
            <a:r>
              <a:rPr dirty="0"/>
              <a:t>Find </a:t>
            </a:r>
            <a:r>
              <a:rPr dirty="0" err="1"/>
              <a:t>CustInvsDoc</a:t>
            </a:r>
            <a:r>
              <a:rPr dirty="0"/>
              <a:t> customers by nested </a:t>
            </a:r>
            <a:r>
              <a:rPr dirty="0" err="1"/>
              <a:t>TrackId</a:t>
            </a:r>
            <a:endParaRPr dirty="0"/>
          </a:p>
          <a:p>
            <a:pPr>
              <a:spcAft>
                <a:spcPts val="500"/>
              </a:spcAft>
              <a:defRPr sz="1270">
                <a:solidFill>
                  <a:srgbClr val="EBEBEB"/>
                </a:solidFill>
                <a:latin typeface="Aptos"/>
              </a:defRPr>
            </a:pPr>
            <a:r>
              <a:rPr dirty="0"/>
              <a:t>Path: Invoices → Lines → </a:t>
            </a:r>
            <a:r>
              <a:rPr dirty="0" err="1"/>
              <a:t>TrackId</a:t>
            </a:r>
            <a:endParaRPr dirty="0"/>
          </a:p>
          <a:p>
            <a:pPr>
              <a:spcAft>
                <a:spcPts val="500"/>
              </a:spcAft>
              <a:defRPr sz="1270">
                <a:solidFill>
                  <a:srgbClr val="EBEBEB"/>
                </a:solidFill>
                <a:latin typeface="Aptos"/>
              </a:defRPr>
            </a:pPr>
            <a:r>
              <a:rPr dirty="0"/>
              <a:t>Exclude the Invoices bin from output</a:t>
            </a:r>
          </a:p>
          <a:p>
            <a:pPr>
              <a:spcAft>
                <a:spcPts val="500"/>
              </a:spcAft>
              <a:defRPr sz="1270">
                <a:solidFill>
                  <a:srgbClr val="EBEBEB"/>
                </a:solidFill>
                <a:latin typeface="Aptos"/>
              </a:defRPr>
            </a:pPr>
            <a:r>
              <a:rPr dirty="0"/>
              <a:t>Return matching </a:t>
            </a:r>
            <a:r>
              <a:rPr dirty="0" err="1"/>
              <a:t>TrackIds</a:t>
            </a:r>
            <a:r>
              <a:rPr dirty="0"/>
              <a:t> with album title and</a:t>
            </a:r>
            <a:endParaRPr lang="en-US" dirty="0"/>
          </a:p>
          <a:p>
            <a:pPr>
              <a:spcAft>
                <a:spcPts val="500"/>
              </a:spcAft>
              <a:defRPr sz="1270">
                <a:solidFill>
                  <a:srgbClr val="EBEBEB"/>
                </a:solidFill>
                <a:latin typeface="Aptos"/>
              </a:defRPr>
            </a:pPr>
            <a:r>
              <a:rPr dirty="0"/>
              <a:t>artist name</a:t>
            </a:r>
          </a:p>
          <a:p>
            <a:pPr>
              <a:spcAft>
                <a:spcPts val="500"/>
              </a:spcAft>
              <a:defRPr sz="1270">
                <a:solidFill>
                  <a:srgbClr val="EBEBEB"/>
                </a:solidFill>
                <a:latin typeface="Aptos"/>
              </a:defRPr>
            </a:pPr>
            <a:r>
              <a:rPr dirty="0"/>
              <a:t>Use LINQ query syntax plus server-side expressions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026664"/>
            <a:ext cx="3337560" cy="256032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1400" b="1" dirty="0">
                <a:solidFill>
                  <a:srgbClr val="7ACCFF"/>
                </a:solidFill>
                <a:latin typeface="Aptos"/>
              </a:rPr>
              <a:t>Generated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922" y="3329152"/>
            <a:ext cx="3880934" cy="1567096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spcAft>
                <a:spcPts val="500"/>
              </a:spcAft>
              <a:defRPr sz="1270">
                <a:solidFill>
                  <a:srgbClr val="EBEBEB"/>
                </a:solidFill>
                <a:latin typeface="Aptos"/>
              </a:defRPr>
            </a:pPr>
            <a:r>
              <a:rPr dirty="0"/>
              <a:t>Build </a:t>
            </a:r>
            <a:r>
              <a:rPr dirty="0" err="1"/>
              <a:t>CDTExp.SelectByPath</a:t>
            </a:r>
            <a:r>
              <a:rPr dirty="0"/>
              <a:t> for </a:t>
            </a:r>
            <a:endParaRPr lang="en-US" dirty="0"/>
          </a:p>
          <a:p>
            <a:pPr>
              <a:spcAft>
                <a:spcPts val="500"/>
              </a:spcAft>
              <a:defRPr sz="1270">
                <a:solidFill>
                  <a:srgbClr val="EBEBEB"/>
                </a:solidFill>
                <a:latin typeface="Aptos"/>
              </a:defRPr>
            </a:pPr>
            <a:r>
              <a:rPr dirty="0"/>
              <a:t>Invoices[*].Lines[*].</a:t>
            </a:r>
            <a:r>
              <a:rPr dirty="0" err="1"/>
              <a:t>TrackId</a:t>
            </a:r>
            <a:endParaRPr dirty="0"/>
          </a:p>
          <a:p>
            <a:pPr>
              <a:spcAft>
                <a:spcPts val="500"/>
              </a:spcAft>
              <a:defRPr sz="1270">
                <a:solidFill>
                  <a:srgbClr val="EBEBEB"/>
                </a:solidFill>
                <a:latin typeface="Aptos"/>
              </a:defRPr>
            </a:pPr>
            <a:r>
              <a:rPr dirty="0"/>
              <a:t>Use </a:t>
            </a:r>
            <a:r>
              <a:rPr dirty="0" err="1"/>
              <a:t>ListExp.GetByValue</a:t>
            </a:r>
            <a:r>
              <a:rPr dirty="0"/>
              <a:t>(EXISTS, …) per target id</a:t>
            </a:r>
          </a:p>
          <a:p>
            <a:pPr>
              <a:spcAft>
                <a:spcPts val="500"/>
              </a:spcAft>
              <a:defRPr sz="1270">
                <a:solidFill>
                  <a:srgbClr val="EBEBEB"/>
                </a:solidFill>
                <a:latin typeface="Aptos"/>
              </a:defRPr>
            </a:pPr>
            <a:r>
              <a:rPr dirty="0"/>
              <a:t>Pass expression to</a:t>
            </a:r>
            <a:endParaRPr lang="en-US" dirty="0"/>
          </a:p>
          <a:p>
            <a:pPr>
              <a:spcAft>
                <a:spcPts val="500"/>
              </a:spcAft>
              <a:defRPr sz="1270">
                <a:solidFill>
                  <a:srgbClr val="EBEBEB"/>
                </a:solidFill>
                <a:latin typeface="Aptos"/>
              </a:defRPr>
            </a:pPr>
            <a:r>
              <a:rPr dirty="0"/>
              <a:t> </a:t>
            </a:r>
            <a:r>
              <a:rPr dirty="0" err="1"/>
              <a:t>SetRecords.Query</a:t>
            </a:r>
            <a:r>
              <a:rPr dirty="0"/>
              <a:t>(</a:t>
            </a:r>
            <a:r>
              <a:rPr dirty="0" err="1"/>
              <a:t>filterExpression</a:t>
            </a:r>
            <a:r>
              <a:rPr dirty="0"/>
              <a:t>)</a:t>
            </a:r>
          </a:p>
          <a:p>
            <a:pPr>
              <a:spcAft>
                <a:spcPts val="500"/>
              </a:spcAft>
              <a:defRPr sz="1270">
                <a:solidFill>
                  <a:srgbClr val="EBEBEB"/>
                </a:solidFill>
                <a:latin typeface="Aptos"/>
              </a:defRPr>
            </a:pPr>
            <a:r>
              <a:rPr dirty="0"/>
              <a:t>Use client-side LINQ only for shaping and enrichment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143000"/>
            <a:ext cx="7178040" cy="4096512"/>
          </a:xfrm>
          <a:prstGeom prst="roundRect">
            <a:avLst/>
          </a:prstGeom>
          <a:solidFill>
            <a:srgbClr val="181C20"/>
          </a:solidFill>
          <a:ln w="15875">
            <a:solidFill>
              <a:srgbClr val="4A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QryExpResult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280160"/>
            <a:ext cx="6903720" cy="377547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663440" y="1280160"/>
            <a:ext cx="6903720" cy="3775472"/>
          </a:xfrm>
          <a:prstGeom prst="rect">
            <a:avLst/>
          </a:prstGeom>
          <a:noFill/>
          <a:ln w="12700">
            <a:solidFill>
              <a:srgbClr val="5A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24302" y="5610466"/>
            <a:ext cx="7749494" cy="501676"/>
          </a:xfrm>
          <a:prstGeom prst="rect">
            <a:avLst/>
          </a:prstGeom>
          <a:noFill/>
        </p:spPr>
        <p:txBody>
          <a:bodyPr wrap="none" lIns="54864" tIns="27432" rIns="54864" bIns="27432" anchor="ctr">
            <a:spAutoFit/>
          </a:bodyPr>
          <a:lstStyle/>
          <a:p>
            <a:pPr algn="ctr"/>
            <a:r>
              <a:rPr sz="1450" b="0" dirty="0">
                <a:solidFill>
                  <a:srgbClr val="EEF6FC"/>
                </a:solidFill>
                <a:latin typeface="Aptos"/>
              </a:rPr>
              <a:t>Why it matters: server-side expression prefilters large nested document</a:t>
            </a:r>
            <a:r>
              <a:rPr lang="en-US" sz="1450" b="0" dirty="0">
                <a:solidFill>
                  <a:srgbClr val="EEF6FC"/>
                </a:solidFill>
                <a:latin typeface="Aptos"/>
              </a:rPr>
              <a:t>/CDTs</a:t>
            </a:r>
            <a:r>
              <a:rPr sz="1450" b="0" dirty="0">
                <a:solidFill>
                  <a:srgbClr val="EEF6FC"/>
                </a:solidFill>
                <a:latin typeface="Aptos"/>
              </a:rPr>
              <a:t> sets in Aerospike, </a:t>
            </a:r>
            <a:endParaRPr lang="en-US" sz="1450" b="0" dirty="0">
              <a:solidFill>
                <a:srgbClr val="EEF6FC"/>
              </a:solidFill>
              <a:latin typeface="Aptos"/>
            </a:endParaRPr>
          </a:p>
          <a:p>
            <a:pPr algn="ctr"/>
            <a:r>
              <a:rPr sz="1450" b="0" dirty="0">
                <a:solidFill>
                  <a:srgbClr val="EEF6FC"/>
                </a:solidFill>
                <a:latin typeface="Aptos"/>
              </a:rPr>
              <a:t>then LINQPad shapes clean customer + track/album/artist results.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4572000" cy="182880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l"/>
            <a:r>
              <a:rPr sz="850" b="0">
                <a:solidFill>
                  <a:srgbClr val="788796"/>
                </a:solidFill>
                <a:latin typeface="Aptos"/>
              </a:rPr>
              <a:t>Aerospike LINQPad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528816"/>
            <a:ext cx="2560320" cy="182880"/>
          </a:xfrm>
          <a:prstGeom prst="rect">
            <a:avLst/>
          </a:prstGeom>
          <a:noFill/>
        </p:spPr>
        <p:txBody>
          <a:bodyPr wrap="none" lIns="54864" tIns="27432" rIns="54864" bIns="27432" anchor="t">
            <a:spAutoFit/>
          </a:bodyPr>
          <a:lstStyle/>
          <a:p>
            <a:pPr algn="r"/>
            <a:r>
              <a:rPr sz="850" b="0">
                <a:solidFill>
                  <a:srgbClr val="788796"/>
                </a:solidFill>
                <a:latin typeface="Aptos"/>
              </a:rPr>
              <a:t>Server-side expressions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4D6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3BD"/>
                </a:solidFill>
              </a:rPr>
              <a:t>A practical AI layer for Aerospike exploration inside LINQPad.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4892040" cy="1508760"/>
          </a:xfrm>
          <a:prstGeom prst="roundRect">
            <a:avLst>
              <a:gd name="adj" fmla="val 7273"/>
            </a:avLst>
          </a:prstGeom>
          <a:solidFill>
            <a:srgbClr val="1F2A36"/>
          </a:solidFill>
          <a:ln w="15240">
            <a:solidFill>
              <a:srgbClr val="4E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15270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54D66B"/>
                </a:solidFill>
              </a:rPr>
              <a:t>Faster exploration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51560" y="19476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5F8FA"/>
                </a:solidFill>
              </a:rPr>
              <a:t>Ask for the shape you want and get a runnable query.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520440"/>
            <a:ext cx="4892040" cy="1508760"/>
          </a:xfrm>
          <a:prstGeom prst="roundRect">
            <a:avLst>
              <a:gd name="adj" fmla="val 7273"/>
            </a:avLst>
          </a:prstGeom>
          <a:solidFill>
            <a:srgbClr val="1F2A36"/>
          </a:solidFill>
          <a:ln w="15240">
            <a:solidFill>
              <a:srgbClr val="477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37216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3AA6FF"/>
                </a:solidFill>
              </a:rPr>
              <a:t>Safer code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51560" y="414223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5F8FA"/>
                </a:solidFill>
              </a:rPr>
              <a:t>Bounded output, read-only defaults, summary comments, and mode-specific guardrails.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1325880"/>
            <a:ext cx="4892040" cy="1508760"/>
          </a:xfrm>
          <a:prstGeom prst="roundRect">
            <a:avLst>
              <a:gd name="adj" fmla="val 7273"/>
            </a:avLst>
          </a:prstGeom>
          <a:solidFill>
            <a:srgbClr val="1F2A36"/>
          </a:solidFill>
          <a:ln w="15240">
            <a:solidFill>
              <a:srgbClr val="9D7A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29400" y="15270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D166"/>
                </a:solidFill>
              </a:rPr>
              <a:t>Schema-aware output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629400" y="19476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5F8FA"/>
                </a:solidFill>
              </a:rPr>
              <a:t>Uses current connection metadata instead of generic examples.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3520440"/>
            <a:ext cx="4892040" cy="1508760"/>
          </a:xfrm>
          <a:prstGeom prst="roundRect">
            <a:avLst>
              <a:gd name="adj" fmla="val 7273"/>
            </a:avLst>
          </a:prstGeom>
          <a:solidFill>
            <a:srgbClr val="1F2A36"/>
          </a:solidFill>
          <a:ln w="15240">
            <a:solidFill>
              <a:srgbClr val="7D5E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29400" y="37216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C7A6FF"/>
                </a:solidFill>
              </a:rPr>
              <a:t>Deep Aerospike support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6629400" y="414223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5F8FA"/>
                </a:solidFill>
              </a:rPr>
              <a:t>AValue, APrimaryKey, CDTs, server-side expressions, and native API mode.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97280" y="5577840"/>
            <a:ext cx="9875520" cy="566928"/>
          </a:xfrm>
          <a:prstGeom prst="roundRect">
            <a:avLst>
              <a:gd name="adj" fmla="val 19355"/>
            </a:avLst>
          </a:prstGeom>
          <a:solidFill>
            <a:srgbClr val="54D66B">
              <a:alpha val="90000"/>
            </a:srgbClr>
          </a:solidFill>
          <a:ln w="12700">
            <a:solidFill>
              <a:srgbClr val="54D66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61872" y="5705856"/>
            <a:ext cx="9546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</a:rPr>
              <a:t>Roadmap: profile-driven AI context, schema-first ordering, truncation warnings, and cleaner rule/example governance.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B3BD"/>
                </a:solidFill>
              </a:rPr>
              <a:t>Aerospike LINQPad AI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241280" y="64739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7B3BD"/>
                </a:solidFill>
              </a:rPr>
              <a:t>Overview deck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932</Words>
  <Application>Microsoft Office PowerPoint</Application>
  <PresentationFormat>Widescreen</PresentationFormat>
  <Paragraphs>146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Aerospike LINQPad Driver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Aerospike LINQPad AI Features Overview</dc:title>
  <dc:subject>Aerospike LINQPad AI Features Overview</dc:subject>
  <dc:creator>OpenAI</dc:creator>
  <cp:lastModifiedBy>Richard Andersen</cp:lastModifiedBy>
  <cp:revision>3</cp:revision>
  <dcterms:created xsi:type="dcterms:W3CDTF">2026-06-10T23:47:59Z</dcterms:created>
  <dcterms:modified xsi:type="dcterms:W3CDTF">2026-06-11T01:44:50Z</dcterms:modified>
</cp:coreProperties>
</file>